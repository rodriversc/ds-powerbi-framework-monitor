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17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Monitor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Assignment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Rodrigo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Simplified (BV)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00474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Power BI report for nightly ETL pipeline performance monitoring across all DS Framework clients.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0474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83480" y="18745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clean, well-structured measure set filtered to night loads, following DS DAX Coding Standards.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00474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918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Design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8580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 4 report pages with KPI cards, sparklines, data quality views, and metadata exploration.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00474C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918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 Mindset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8348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improvement opportunities for clients: slow loads, missing metadata, and incremental load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Model: Star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Tables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FrameworkExecutionTrace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execution per customer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Duration, Start/End Date, IsNightLoad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FrameworkSQLStatementTrace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statement trace per step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 (ms), IsError, Pipeline stage flags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73152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27048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9496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196596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9" name="Shape 16"/>
          <p:cNvSpPr/>
          <p:nvPr/>
        </p:nvSpPr>
        <p:spPr>
          <a:xfrm>
            <a:off x="4846320" y="1965960"/>
            <a:ext cx="73152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29968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246888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3" name="Shape 19"/>
          <p:cNvSpPr/>
          <p:nvPr/>
        </p:nvSpPr>
        <p:spPr>
          <a:xfrm>
            <a:off x="4846320" y="2468880"/>
            <a:ext cx="73152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32888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9496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ExecutionId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846320" y="297180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7" name="Shape 22"/>
          <p:cNvSpPr/>
          <p:nvPr/>
        </p:nvSpPr>
        <p:spPr>
          <a:xfrm>
            <a:off x="4846320" y="2971800"/>
            <a:ext cx="73152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3580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94960" y="30175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3474720"/>
            <a:ext cx="384048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1" name="Shape 25"/>
          <p:cNvSpPr/>
          <p:nvPr/>
        </p:nvSpPr>
        <p:spPr>
          <a:xfrm>
            <a:off x="4846320" y="3474720"/>
            <a:ext cx="73152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538728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94960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CustomerDatabase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846320" y="4114800"/>
            <a:ext cx="3840480" cy="77724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5" name="Text 28"/>
          <p:cNvSpPr/>
          <p:nvPr/>
        </p:nvSpPr>
        <p:spPr>
          <a:xfrm>
            <a:off x="502920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relationships: active, many-to-one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foreign keys per fact table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4.1  Clean Measures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972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Critical: All measures filter on IsNightLoad = TRUE to exclude test runs and ad-hoc executions.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Folders &amp; Measure Groups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73152" cy="5029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0" name="Text 7"/>
          <p:cNvSpPr/>
          <p:nvPr/>
        </p:nvSpPr>
        <p:spPr>
          <a:xfrm>
            <a:off x="658368" y="2551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Duration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761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PL_1 Sum, PL_2 Sum, PL_3 Sum, PL_1+PL_2 Sum, Total Duration, Last Run measures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3" name="Shape 10"/>
          <p:cNvSpPr/>
          <p:nvPr/>
        </p:nvSpPr>
        <p:spPr>
          <a:xfrm>
            <a:off x="457200" y="3108960"/>
            <a:ext cx="73152" cy="5029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4" name="Text 11"/>
          <p:cNvSpPr/>
          <p:nvPr/>
        </p:nvSpPr>
        <p:spPr>
          <a:xfrm>
            <a:off x="658368" y="3145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3355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Run Count, Error flag detection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73152" cy="5029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18" name="Text 15"/>
          <p:cNvSpPr/>
          <p:nvPr/>
        </p:nvSpPr>
        <p:spPr>
          <a:xfrm>
            <a:off x="658368" y="3739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Duration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" y="39502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step duration (seconds), 7-day average per load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297680"/>
            <a:ext cx="4114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73152" cy="5029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2" name="Text 19"/>
          <p:cNvSpPr/>
          <p:nvPr/>
        </p:nvSpPr>
        <p:spPr>
          <a:xfrm>
            <a:off x="658368" y="4334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" y="4544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 Run Count (distinct ExecutionId)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Coding Standards</a:t>
            </a:r>
            <a:endParaRPr lang="en-US" sz="16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51176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 / RETURN for multi-step logic</a:t>
            </a:r>
            <a:endParaRPr lang="en-US" sz="11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35224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94960" y="2898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DIVIDE() instead of / operator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1927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94960" y="32826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Variables: _CamelCase prefix</a:t>
            </a:r>
            <a:endParaRPr lang="en-US" sz="11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0332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94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Names: [Subject] [Object] [Type]</a:t>
            </a:r>
            <a:endParaRPr lang="en-US" sz="11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08736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949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above every measure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471416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39496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clause per line, 4-space indent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  Source Applications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Applications Page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Visual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CustomerDatabase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SourceApplicationName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Values: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 of metadata entries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Stacked bar chart showing distribution per source application across all customers.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Sub-Page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46320" y="146304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Cleanup Prioritisation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KPI cards: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Tables, Tables Without Source App, % Missing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table: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count + percentage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table: </a:t>
            </a: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Filtered to BLANK entries only for targeted cleanup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14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0233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 Insight: Clients with high % missing source applications (e.g. Impermo at 66%) are immediate cleanup candidates. This drives metadata quality across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  Front Sheet: Pipeline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KPI Cards (Deneb)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41148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Concordia Textiles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PL_1+PL_2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79.6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11880" y="1965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7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118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 minutes — values shown with 2 decimal precision (.2f format)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Line Chart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4630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0020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949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PL_1 &amp; PL_2 over time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line chart showing combined PL_1 + PL_2 duration trend over time.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markers (1h–5h) with reference lines for quick performance assessment.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per customer using DS theme palette.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88720" y="33375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PL_3 Offset: This report is part of PL_3_Serve. PL_3 data is always one day behind — PL_1 and PL_2 show last night, PL_3 shows the night before. Specific "Last Run" measures handle this offset.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Choices</a:t>
            </a:r>
            <a:endParaRPr lang="en-US" sz="1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17720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13232" y="45811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Deneb (Vega-Lite) for KPI cards with precise formatting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818888"/>
            <a:ext cx="164592" cy="1645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3232" y="4782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".2f" for exact 2-decimal display</a:t>
            </a:r>
            <a:endParaRPr lang="en-US" sz="9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20056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" y="4983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slicer on left (per DS design rules)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  Long-Running Loads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the slowest individual loads (stored procedures / tables) per customer and flag which ones are easiest to improve. This page turns raw logging data into actionable improvement proposals for our clients.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shows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511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146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average duration per metadata entry (table / stored procedure)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8620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DestinationDatabaseTableName so users can identify the exact table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32095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Sorted slowest-first — biggest bottlenecks are immediately visible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9359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5570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TableSizeMB and RowsInTable for context on table scale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4106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9044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FlagResetTable to spot full-reload tables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484632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Improvement Indicators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4846320" y="251460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9" name="Shape 12"/>
          <p:cNvSpPr/>
          <p:nvPr/>
        </p:nvSpPr>
        <p:spPr>
          <a:xfrm>
            <a:off x="4846320" y="2514600"/>
            <a:ext cx="73152" cy="54864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0" name="Text 13"/>
          <p:cNvSpPr/>
          <p:nvPr/>
        </p:nvSpPr>
        <p:spPr>
          <a:xfrm>
            <a:off x="5047488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FlagResetTable = 1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047488" y="2788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reload every night. Switching to incremental load is often a quick win with big impact.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4846320" y="315468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3" name="Shape 16"/>
          <p:cNvSpPr/>
          <p:nvPr/>
        </p:nvSpPr>
        <p:spPr>
          <a:xfrm>
            <a:off x="4846320" y="3154680"/>
            <a:ext cx="73152" cy="54864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4" name="Text 17"/>
          <p:cNvSpPr/>
          <p:nvPr/>
        </p:nvSpPr>
        <p:spPr>
          <a:xfrm>
            <a:off x="5047488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TableSizeMB + Long duration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047488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table but slow load = complex stored procedure logic. Flag for SP review.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846320" y="379476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7" name="Shape 20"/>
          <p:cNvSpPr/>
          <p:nvPr/>
        </p:nvSpPr>
        <p:spPr>
          <a:xfrm>
            <a:off x="4846320" y="3794760"/>
            <a:ext cx="73152" cy="54864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28" name="Text 21"/>
          <p:cNvSpPr/>
          <p:nvPr/>
        </p:nvSpPr>
        <p:spPr>
          <a:xfrm>
            <a:off x="5047488" y="3840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RowsInTable + Long duration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047488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 rows but slow = heavy transformations. May need query optimisation.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0740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872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Consultant value: This page is not just monitoring — it's a tool to propose concrete improvements to clients. "We see table X takes 20 min with FlagResetTable=1 and only 37K rows. Switching to incremental could save 15+ minutes per night."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  Metadata Explorer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dense reference page that gives a complete picture of a customer's data platform setup. Select a customer and immediately see every table, its source, size, configuration, and status. This is the "look-up" page for technical questions and client conversations.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Displayed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DestinationDatabaseTableName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79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SourceApplicationName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783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SourceDetailName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47872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TableType / TableOrigin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7912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TableSizeMB (conditional formatting)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587752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999232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RowsInTable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907792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999232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CompressionType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227832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999232" y="3200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SCD Type</a:t>
            </a:r>
            <a:endParaRPr lang="en-US" sz="10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547872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999232" y="3520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IsIncrementalLoad</a:t>
            </a:r>
            <a:endParaRPr lang="en-US" sz="10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867912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9992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IsActive</a:t>
            </a:r>
            <a:endParaRPr lang="en-US" sz="1000" dirty="0"/>
          </a:p>
        </p:txBody>
      </p:sp>
      <p:sp>
        <p:nvSpPr>
          <p:cNvPr id="27" name="Text 15"/>
          <p:cNvSpPr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 this page</a:t>
            </a:r>
            <a:endParaRPr lang="en-US" sz="1600" dirty="0"/>
          </a:p>
        </p:txBody>
      </p:sp>
      <p:sp>
        <p:nvSpPr>
          <p:cNvPr id="28" name="Shape 16"/>
          <p:cNvSpPr/>
          <p:nvPr/>
        </p:nvSpPr>
        <p:spPr>
          <a:xfrm>
            <a:off x="5029200" y="2514600"/>
            <a:ext cx="3657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9" name="Shape 17"/>
          <p:cNvSpPr/>
          <p:nvPr/>
        </p:nvSpPr>
        <p:spPr>
          <a:xfrm>
            <a:off x="5029200" y="2514600"/>
            <a:ext cx="64008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0" name="Text 18"/>
          <p:cNvSpPr/>
          <p:nvPr/>
        </p:nvSpPr>
        <p:spPr>
          <a:xfrm>
            <a:off x="5212080" y="253288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onboarding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5212080" y="271576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tables does this customer have and where do they come from?"</a:t>
            </a:r>
            <a:endParaRPr lang="en-US" sz="850" dirty="0"/>
          </a:p>
        </p:txBody>
      </p:sp>
      <p:sp>
        <p:nvSpPr>
          <p:cNvPr id="32" name="Shape 20"/>
          <p:cNvSpPr/>
          <p:nvPr/>
        </p:nvSpPr>
        <p:spPr>
          <a:xfrm>
            <a:off x="5029200" y="2953512"/>
            <a:ext cx="3657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3" name="Shape 21"/>
          <p:cNvSpPr/>
          <p:nvPr/>
        </p:nvSpPr>
        <p:spPr>
          <a:xfrm>
            <a:off x="5029200" y="2953512"/>
            <a:ext cx="64008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4" name="Text 22"/>
          <p:cNvSpPr/>
          <p:nvPr/>
        </p:nvSpPr>
        <p:spPr>
          <a:xfrm>
            <a:off x="5212080" y="29718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investigation</a:t>
            </a:r>
            <a:endParaRPr lang="en-US" sz="1050" dirty="0"/>
          </a:p>
        </p:txBody>
      </p:sp>
      <p:sp>
        <p:nvSpPr>
          <p:cNvPr id="35" name="Text 23"/>
          <p:cNvSpPr/>
          <p:nvPr/>
        </p:nvSpPr>
        <p:spPr>
          <a:xfrm>
            <a:off x="5212080" y="315468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 tables are the largest? Are they using incremental load?"</a:t>
            </a:r>
            <a:endParaRPr lang="en-US" sz="850" dirty="0"/>
          </a:p>
        </p:txBody>
      </p:sp>
      <p:sp>
        <p:nvSpPr>
          <p:cNvPr id="36" name="Shape 24"/>
          <p:cNvSpPr/>
          <p:nvPr/>
        </p:nvSpPr>
        <p:spPr>
          <a:xfrm>
            <a:off x="5029200" y="3392424"/>
            <a:ext cx="3657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7" name="Shape 25"/>
          <p:cNvSpPr/>
          <p:nvPr/>
        </p:nvSpPr>
        <p:spPr>
          <a:xfrm>
            <a:off x="5029200" y="3392424"/>
            <a:ext cx="64008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8" name="Text 26"/>
          <p:cNvSpPr/>
          <p:nvPr/>
        </p:nvSpPr>
        <p:spPr>
          <a:xfrm>
            <a:off x="5212080" y="34107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audit</a:t>
            </a:r>
            <a:endParaRPr lang="en-US" sz="1050" dirty="0"/>
          </a:p>
        </p:txBody>
      </p:sp>
      <p:sp>
        <p:nvSpPr>
          <p:cNvPr id="39" name="Text 27"/>
          <p:cNvSpPr/>
          <p:nvPr/>
        </p:nvSpPr>
        <p:spPr>
          <a:xfrm>
            <a:off x="5212080" y="359359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many inactive tables are left? What SCD types are in use?"</a:t>
            </a:r>
            <a:endParaRPr lang="en-US" sz="850" dirty="0"/>
          </a:p>
        </p:txBody>
      </p:sp>
      <p:sp>
        <p:nvSpPr>
          <p:cNvPr id="40" name="Shape 28"/>
          <p:cNvSpPr/>
          <p:nvPr/>
        </p:nvSpPr>
        <p:spPr>
          <a:xfrm>
            <a:off x="5029200" y="3831336"/>
            <a:ext cx="365760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41" name="Shape 29"/>
          <p:cNvSpPr/>
          <p:nvPr/>
        </p:nvSpPr>
        <p:spPr>
          <a:xfrm>
            <a:off x="5029200" y="3831336"/>
            <a:ext cx="64008" cy="384048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42" name="Text 30"/>
          <p:cNvSpPr/>
          <p:nvPr/>
        </p:nvSpPr>
        <p:spPr>
          <a:xfrm>
            <a:off x="5212080" y="38496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inventory</a:t>
            </a:r>
            <a:endParaRPr lang="en-US" sz="1050" dirty="0"/>
          </a:p>
        </p:txBody>
      </p:sp>
      <p:sp>
        <p:nvSpPr>
          <p:cNvPr id="43" name="Text 31"/>
          <p:cNvSpPr/>
          <p:nvPr/>
        </p:nvSpPr>
        <p:spPr>
          <a:xfrm>
            <a:off x="5212080" y="40325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 applications feed into this customer's platform?"</a:t>
            </a:r>
            <a:endParaRPr lang="en-US" sz="850" dirty="0"/>
          </a:p>
        </p:txBody>
      </p:sp>
      <p:sp>
        <p:nvSpPr>
          <p:cNvPr id="44" name="Shape 32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98848"/>
            <a:ext cx="320040" cy="32004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1143000" y="44531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Design: Conditional formatting on TableSizeMB (color scale) makes large tables visually stand out. Sorted by SourceApplicationName for quick scanning. Prominent Customer slicer on the left for fast navigation between clients.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24A625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161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24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124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Measures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399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IsNightLoad filter, DAX standards, display folders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A6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80136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2" name="Shape 9"/>
          <p:cNvSpPr/>
          <p:nvPr/>
        </p:nvSpPr>
        <p:spPr>
          <a:xfrm>
            <a:off x="457200" y="1801368"/>
            <a:ext cx="73152" cy="640080"/>
          </a:xfrm>
          <a:prstGeom prst="rect">
            <a:avLst/>
          </a:prstGeom>
          <a:solidFill>
            <a:srgbClr val="24A625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1874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Applications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97280" y="21488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 matrix + Data Quality sub-page with NULL analysis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498080" y="1938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A6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55117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9" name="Shape 15"/>
          <p:cNvSpPr/>
          <p:nvPr/>
        </p:nvSpPr>
        <p:spPr>
          <a:xfrm>
            <a:off x="457200" y="2551176"/>
            <a:ext cx="73152" cy="640080"/>
          </a:xfrm>
          <a:prstGeom prst="rect">
            <a:avLst/>
          </a:prstGeom>
          <a:solidFill>
            <a:srgbClr val="24A625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1576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554480" y="2624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 Sheet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097280" y="28986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Per-customer KPI cards (Deneb) + trend line chart, PL_3 offset handled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498080" y="2688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A6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57200" y="330098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6" name="Shape 21"/>
          <p:cNvSpPr/>
          <p:nvPr/>
        </p:nvSpPr>
        <p:spPr>
          <a:xfrm>
            <a:off x="457200" y="3300984"/>
            <a:ext cx="73152" cy="640080"/>
          </a:xfrm>
          <a:prstGeom prst="rect">
            <a:avLst/>
          </a:prstGeom>
          <a:solidFill>
            <a:srgbClr val="24A625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6557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374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554480" y="33741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Long-Running Loads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097280" y="364845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7-day average duration, improvement indicators (FlagResetTable, size, rows)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498080" y="34381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A6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457200" y="4050792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3" name="Shape 27"/>
          <p:cNvSpPr/>
          <p:nvPr/>
        </p:nvSpPr>
        <p:spPr>
          <a:xfrm>
            <a:off x="457200" y="4050792"/>
            <a:ext cx="73152" cy="640080"/>
          </a:xfrm>
          <a:prstGeom prst="rect">
            <a:avLst/>
          </a:prstGeom>
          <a:solidFill>
            <a:srgbClr val="24A625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15384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7280" y="4123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7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4.5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554480" y="4123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 Explorer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097280" y="439826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Customer-filtered table details with conditional formatting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498080" y="4187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A62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474C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Steps: Preventive Monitoring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Ideas to extend the Framework Monitor from reactive reporting to proactive issue prevention.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" cy="9601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904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472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Analysis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764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error count over time per customer. Break down by SourceApplicationName to identify which sources fail most. Spot recurring patterns before they become critical.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1460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73152" cy="9601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877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569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Day-of-Week Heatmap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2862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which weekdays have the longest loads or most failures. Some sources (e.g. ERP systems) may be heavier on Monday after weekend batch jobs. Helps plan maintenance windows.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16" name="Shape 12"/>
          <p:cNvSpPr/>
          <p:nvPr/>
        </p:nvSpPr>
        <p:spPr>
          <a:xfrm>
            <a:off x="457200" y="3611880"/>
            <a:ext cx="73152" cy="96012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850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666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 Anomaly Detection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loads that exceed 2x their 7-day rolling average. A sudden spike often signals a data issue at the source (e.g. duplicate records, schema change) before it becomes visible to the client.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754880" y="141732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1" name="Shape 16"/>
          <p:cNvSpPr/>
          <p:nvPr/>
        </p:nvSpPr>
        <p:spPr>
          <a:xfrm>
            <a:off x="4754880" y="1417320"/>
            <a:ext cx="73152" cy="960120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49047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85232" y="14721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Stage Breakdown Trend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37760" y="1764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PL_1, PL_2, PL_3 as stacked area chart over time. If PL_2 is growing while PL_1 stays flat, transformation logic is the bottleneck — not ingestion.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54880" y="251460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26" name="Shape 20"/>
          <p:cNvSpPr/>
          <p:nvPr/>
        </p:nvSpPr>
        <p:spPr>
          <a:xfrm>
            <a:off x="4754880" y="2514600"/>
            <a:ext cx="73152" cy="960120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587752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2569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 vs Weekday Comparison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937760" y="2862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load times on weekends (less source activity) vs weekdays. Large differences reveal contention issues or source-system load impact on our pipelines.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754880" y="3611880"/>
            <a:ext cx="39319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nl-BE"/>
          </a:p>
        </p:txBody>
      </p:sp>
      <p:sp>
        <p:nvSpPr>
          <p:cNvPr id="31" name="Shape 24"/>
          <p:cNvSpPr/>
          <p:nvPr/>
        </p:nvSpPr>
        <p:spPr>
          <a:xfrm>
            <a:off x="4754880" y="3611880"/>
            <a:ext cx="73152" cy="960120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68503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85232" y="3666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9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Health Score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937760" y="3959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error rate, average duration, % tables with FlagResetTable=1, and metadata completeness into a single score per client. Quick traffic-light overview for management reporting.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0292E"/>
          </a:solidFill>
          <a:ln/>
        </p:spPr>
        <p:txBody>
          <a:bodyPr/>
          <a:lstStyle/>
          <a:p>
            <a:endParaRPr lang="nl-BE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6634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1560" y="46360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 shift from "what happened last night" to "what is likely to go wrong next" — turning this report into a preventive tool for our clients.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9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C896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007282"/>
          </a:solidFill>
          <a:ln/>
        </p:spPr>
        <p:txBody>
          <a:bodyPr/>
          <a:lstStyle/>
          <a:p>
            <a:endParaRPr lang="nl-BE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C8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Rodrigo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Simplified (BV)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4CC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Monitor — Power BI Assignment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1307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Framework Monitor - Power BI Assignment</dc:title>
  <dc:subject>PptxGenJS Presentation</dc:subject>
  <dc:creator>Rodrigo</dc:creator>
  <cp:lastModifiedBy>Rodrigo Verschraegen</cp:lastModifiedBy>
  <cp:revision>1</cp:revision>
  <dcterms:created xsi:type="dcterms:W3CDTF">2026-04-09T20:52:07Z</dcterms:created>
  <dcterms:modified xsi:type="dcterms:W3CDTF">2026-04-09T20:58:08Z</dcterms:modified>
</cp:coreProperties>
</file>